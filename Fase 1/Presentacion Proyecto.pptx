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WJAIPWhjXrbL72Jomlm0HPD7m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jpg"/><Relationship Id="rId4" Type="http://schemas.openxmlformats.org/officeDocument/2006/relationships/image" Target="../media/image2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1F3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6D2E4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A2676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ake_white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7772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777240" y="141732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DULCE DÍA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23317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6D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E7D6DC"/>
                </a:solidFill>
                <a:latin typeface="Calibri"/>
                <a:ea typeface="Calibri"/>
                <a:cs typeface="Calibri"/>
                <a:sym typeface="Calibri"/>
              </a:rPr>
              <a:t>Sistema de Gestión de Pedidos y Producción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822960" y="301752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822960" y="32461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4C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D8C4CB"/>
                </a:solidFill>
                <a:latin typeface="Calibri"/>
                <a:ea typeface="Calibri"/>
                <a:cs typeface="Calibri"/>
                <a:sym typeface="Calibri"/>
              </a:rPr>
              <a:t>De la coordinación por WhatsApp y papel a un ecosistema digital conectado entre punto de venta y producción.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5989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AE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BAEB6"/>
                </a:solidFill>
                <a:latin typeface="Calibri"/>
                <a:ea typeface="Calibri"/>
                <a:cs typeface="Calibri"/>
                <a:sym typeface="Calibri"/>
              </a:rPr>
              <a:t>Renato Carreño · Camilo Rojas · Jorge Berroeta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AEB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AEB6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— 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Un negocio dividido en dos puntos, coordinado a mano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22960" y="2103120"/>
            <a:ext cx="4206240" cy="3291840"/>
          </a:xfrm>
          <a:prstGeom prst="roundRect">
            <a:avLst>
              <a:gd fmla="val 3333" name="adj"/>
            </a:avLst>
          </a:prstGeom>
          <a:solidFill>
            <a:srgbClr val="F6EFEA"/>
          </a:solidFill>
          <a:ln>
            <a:noFill/>
          </a:ln>
          <a:effectLst>
            <a:outerShdw blurRad="76200" rotWithShape="0" algn="bl" dir="5400000" dist="25400">
              <a:srgbClr val="80808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re_berry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423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1783080" y="24231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El Filodendro — Maipú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43000" y="306324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Punto de venta y atención al cliente. Recibe pedidos por WhatsApp y los anota en papel.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143000" y="47548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Registro manual  ·  Mensajes dispersos  ·  Fichas extraviadas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132320" y="2103120"/>
            <a:ext cx="4206240" cy="3291840"/>
          </a:xfrm>
          <a:prstGeom prst="roundRect">
            <a:avLst>
              <a:gd fmla="val 3333" name="adj"/>
            </a:avLst>
          </a:prstGeom>
          <a:solidFill>
            <a:srgbClr val="F6EFEA"/>
          </a:solidFill>
          <a:ln>
            <a:noFill/>
          </a:ln>
          <a:effectLst>
            <a:outerShdw blurRad="76200" rotWithShape="0" algn="bl" dir="5400000" dist="25400">
              <a:srgbClr val="80808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uck_berry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2360" y="2423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8092440" y="24231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Planta de Producción — Cerrillos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452360" y="306324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Elabora los pedidos, pero se entera de ellos con retraso e información incompleta.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452360" y="47548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Sin visibilidad en tiempo real  ·  Descoordinación en agenda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2"/>
          <p:cNvCxnSpPr/>
          <p:nvPr/>
        </p:nvCxnSpPr>
        <p:spPr>
          <a:xfrm>
            <a:off x="5029200" y="3749040"/>
            <a:ext cx="2103120" cy="0"/>
          </a:xfrm>
          <a:prstGeom prst="straightConnector1">
            <a:avLst/>
          </a:prstGeom>
          <a:noFill/>
          <a:ln cap="flat" cmpd="sng" w="25400">
            <a:solidFill>
              <a:srgbClr val="A26769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descr="icons/whatsapp_rose.png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68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4709160" y="34930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WhatsApp + papel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Dulce Día es una PYME gastronómica: la pastelería produce en Cerrillos y despacha en alianza con El Filodendro (Maipú).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FE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La desconexión operativa cuesta tiempo, pedidos y confianza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1828800"/>
            <a:ext cx="3429000" cy="356616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822960" y="2148840"/>
            <a:ext cx="822960" cy="82296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hatsapp_white.png"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331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822960" y="3154680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Pedidos saturados en WhatsApp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22960" y="3886200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El traspaso de información es ineficiente y se pierden registros entre tantos mensajes.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297680" y="1828800"/>
            <a:ext cx="3429000" cy="356616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72000" y="2148840"/>
            <a:ext cx="822960" cy="82296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le_white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331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4572000" y="3154680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Registro manual en papel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0" y="3886200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Las fichas físicas se extravían y buscar antecedentes en libros contables toma tiempo operativo valioso.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046720" y="1828800"/>
            <a:ext cx="3429000" cy="356616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321040" y="2148840"/>
            <a:ext cx="822960" cy="82296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ing_white.png" id="65" name="Google Shape;6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0" y="2331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8321040" y="3154680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Descoordinación de agenda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321040" y="3886200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Los pedidos agendados a largo plazo no siempre llegan claros ni a tiempo a producción.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Un ecosistema digital en dos fases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48640" y="1691640"/>
            <a:ext cx="5166360" cy="4480560"/>
          </a:xfrm>
          <a:prstGeom prst="roundRect">
            <a:avLst>
              <a:gd fmla="val 2857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obile_white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011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1508760" y="2011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6D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D6DC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68680" y="2468880"/>
            <a:ext cx="4526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 Móvil — Agenda Centralizada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68680" y="3200400"/>
            <a:ext cx="4526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6E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2E6EA"/>
                </a:solidFill>
                <a:latin typeface="Calibri"/>
                <a:ea typeface="Calibri"/>
                <a:cs typeface="Calibri"/>
                <a:sym typeface="Calibri"/>
              </a:rPr>
              <a:t>Registro de pedidos en tiempo real con catálogo unificado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F2E6E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2E6EA"/>
                </a:solidFill>
                <a:latin typeface="Calibri"/>
                <a:ea typeface="Calibri"/>
                <a:cs typeface="Calibri"/>
                <a:sym typeface="Calibri"/>
              </a:rPr>
              <a:t>Estados de pedido: Pendiente, Pagado, Entregado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F2E6E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2E6EA"/>
                </a:solidFill>
                <a:latin typeface="Calibri"/>
                <a:ea typeface="Calibri"/>
                <a:cs typeface="Calibri"/>
                <a:sym typeface="Calibri"/>
              </a:rPr>
              <a:t>Control automático de abonos y saldos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F2E6E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2E6EA"/>
                </a:solidFill>
                <a:latin typeface="Calibri"/>
                <a:ea typeface="Calibri"/>
                <a:cs typeface="Calibri"/>
                <a:sym typeface="Calibri"/>
              </a:rPr>
              <a:t>Comprobantes automáticos vía WhatsApp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F2E6E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2E6EA"/>
                </a:solidFill>
                <a:latin typeface="Calibri"/>
                <a:ea typeface="Calibri"/>
                <a:cs typeface="Calibri"/>
                <a:sym typeface="Calibri"/>
              </a:rPr>
              <a:t>Notificaciones push a producción (Firebase FCM)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F2E6E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2E6EA"/>
                </a:solidFill>
                <a:latin typeface="Calibri"/>
                <a:ea typeface="Calibri"/>
                <a:cs typeface="Calibri"/>
                <a:sym typeface="Calibri"/>
              </a:rPr>
              <a:t>Trazabilidad completa para proyectar stock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126480" y="1691640"/>
            <a:ext cx="5166360" cy="4480560"/>
          </a:xfrm>
          <a:prstGeom prst="roundRect">
            <a:avLst>
              <a:gd fmla="val 2857" name="adj"/>
            </a:avLst>
          </a:prstGeom>
          <a:solidFill>
            <a:srgbClr val="F6EFEA"/>
          </a:solidFill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lobe_berry.png" id="82" name="Google Shape;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2011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7086600" y="2011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67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26769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446520" y="2468880"/>
            <a:ext cx="4526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Plataforma Web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446520" y="3200400"/>
            <a:ext cx="4526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Portal de autoservicio para clientes finales, 24/7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2B212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Canaliza la alta demanda directo a la base de datos central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2B212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Automatiza la toma de pedidos sin saturar al personal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2B212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Chatbot con IA (LLM) para soporte y recomendaciones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2B212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Base para escalar a un modelo SaaS multi-pastelería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FE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CÓMO FUNCIONA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Arquitectura tecnológica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40080" y="1965960"/>
            <a:ext cx="352044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68680" y="237744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obile_white.png"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272" y="25420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1737360" y="22585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App Móvil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737360" y="27157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Flutter / Dart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389120" y="1965960"/>
            <a:ext cx="352044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617720" y="237744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ayers_white.png" id="101" name="Google Shape;1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2312" y="25420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5486400" y="22585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Backend API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486400" y="27157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Java · Spring Boot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138160" y="1965960"/>
            <a:ext cx="352044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8366760" y="237744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white.png" id="106" name="Google Shape;10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1352" y="25420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9235440" y="22585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Base de Datos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9235440" y="27157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0080" y="3794760"/>
            <a:ext cx="352044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868680" y="420624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oud_white.png" id="111" name="Google Shape;11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3272" y="43708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1737360" y="40873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Hosting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737360" y="45445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Railway (Cloud)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389120" y="3794760"/>
            <a:ext cx="352044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617720" y="420624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ell_white.png" id="116" name="Google Shape;11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82312" y="43708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5486400" y="40873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Notificaciones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0" y="45445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Firebase FCM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138160" y="3794760"/>
            <a:ext cx="352044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366760" y="420624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bot_white.png" id="121" name="Google Shape;12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1352" y="43708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9235440" y="40873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Asistente 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9235440" y="454456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Chatbot 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DISEÑO DEL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Del pedido a la entrega: flujo del proceso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a_actividad.pn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0" y="1508760"/>
            <a:ext cx="3976861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640080" y="2103120"/>
            <a:ext cx="27432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El cliente solicita su pedido y el personal lo registra al instante en la app.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2B2126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El sistema asigna estado y, si corresponde, registra el abono.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2B2126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Producción recibe una notificación push automática — sin WhatsApp de por medio.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2B2126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Al entregar, se actualiza el estado y se genera el comprobante.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1F3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6D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D6DC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48640" y="7315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 Móvil — Agenda Centralizada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48640" y="12801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AEB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BAEB6"/>
                </a:solidFill>
                <a:latin typeface="Calibri"/>
                <a:ea typeface="Calibri"/>
                <a:cs typeface="Calibri"/>
                <a:sym typeface="Calibri"/>
              </a:rPr>
              <a:t>Vista del personal de atención (Maipú)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ync_white.png"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19476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1234440" y="1783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Estados en vivo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234440" y="2121408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8C4C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C4CB"/>
                </a:solidFill>
                <a:latin typeface="Calibri"/>
                <a:ea typeface="Calibri"/>
                <a:cs typeface="Calibri"/>
                <a:sym typeface="Calibri"/>
              </a:rPr>
              <a:t>Pendiente, Pagado y Entregado se actualizan al instante para todo el equipo.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ell_white.png" id="148" name="Google Shape;1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" y="33649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123444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Aviso a producción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234440" y="3538728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8C4C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C4CB"/>
                </a:solidFill>
                <a:latin typeface="Calibri"/>
                <a:ea typeface="Calibri"/>
                <a:cs typeface="Calibri"/>
                <a:sym typeface="Calibri"/>
              </a:rPr>
              <a:t>Cada pedido nuevo dispara una notificación push a Cerrillos.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hatsapp_white.png" id="152" name="Google Shape;15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" y="47823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1234440" y="4617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Comprobante automático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234440" y="4956048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8C4C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C4CB"/>
                </a:solidFill>
                <a:latin typeface="Calibri"/>
                <a:ea typeface="Calibri"/>
                <a:cs typeface="Calibri"/>
                <a:sym typeface="Calibri"/>
              </a:rPr>
              <a:t>Se genera y envía al cliente vía WhatsApp sin pasos manuales.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0925" y="1371600"/>
            <a:ext cx="2948926" cy="532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13125" y="1371600"/>
            <a:ext cx="2395316" cy="532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01725" y="1371600"/>
            <a:ext cx="2353276" cy="52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Plataforma Web E-commerce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Portal de autoservicio para clientes finales, disponible 24/7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8"/>
          <p:cNvPicPr preferRelativeResize="0"/>
          <p:nvPr/>
        </p:nvPicPr>
        <p:blipFill rotWithShape="1">
          <a:blip r:embed="rId3">
            <a:alphaModFix/>
          </a:blip>
          <a:srcRect b="3798" l="2384" r="1867" t="10277"/>
          <a:stretch/>
        </p:blipFill>
        <p:spPr>
          <a:xfrm>
            <a:off x="309000" y="1874000"/>
            <a:ext cx="6289825" cy="464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1100" y="1874000"/>
            <a:ext cx="5318500" cy="464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EFE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VALOR PARA EL NEGOCIO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B2126"/>
                </a:solidFill>
                <a:latin typeface="Cambria"/>
                <a:ea typeface="Cambria"/>
                <a:cs typeface="Cambria"/>
                <a:sym typeface="Cambria"/>
              </a:rPr>
              <a:t>Qué gana Dulce Día con este sistema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94360" y="1691640"/>
            <a:ext cx="352044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795528" y="1892808"/>
            <a:ext cx="548640" cy="54864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ock_white.png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202082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/>
          <p:nvPr/>
        </p:nvSpPr>
        <p:spPr>
          <a:xfrm>
            <a:off x="1463040" y="1828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Ahorro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463040" y="217627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de horas por semana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795528" y="2560320"/>
            <a:ext cx="31181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que hoy se pierden buscando fichas de papel o historiales de WhatsApp.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343400" y="1691640"/>
            <a:ext cx="352044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544568" y="1892808"/>
            <a:ext cx="548640" cy="54864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ync_white.png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584" y="202082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5212080" y="1828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100%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212080" y="217627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trazabilidad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44568" y="2560320"/>
            <a:ext cx="31181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de cada pedido, desde que se toma hasta que se entrega.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092440" y="1691640"/>
            <a:ext cx="352044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8293608" y="1892808"/>
            <a:ext cx="548640" cy="54864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_white.png" id="191" name="Google Shape;1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1624" y="202082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8961120" y="1828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961120" y="217627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pedidos perdidos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293608" y="2560320"/>
            <a:ext cx="31181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gracias al registro centralizado y respaldado en la nube.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94360" y="3703320"/>
            <a:ext cx="352044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795528" y="3904488"/>
            <a:ext cx="548640" cy="54864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ins_white.png" id="197" name="Google Shape;19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544" y="403250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1463040" y="38404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24/7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463040" y="418795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toma de pedidos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795528" y="4572000"/>
            <a:ext cx="31181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vía portal web, sin depender de que alguien conteste WhatsApp.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343400" y="3703320"/>
            <a:ext cx="352044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544568" y="3904488"/>
            <a:ext cx="548640" cy="54864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_white.png" id="203" name="Google Shape;20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2584" y="403250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5212080" y="38404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+Datos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212080" y="418795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para decidir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544568" y="4572000"/>
            <a:ext cx="31181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proyección de stock e insumos con base en el historial real de pedidos.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092440" y="3703320"/>
            <a:ext cx="352044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80808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8293608" y="3904488"/>
            <a:ext cx="548640" cy="54864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lobe_white.png" id="209" name="Google Shape;20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1624" y="403250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8961120" y="38404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SaaS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8961120" y="418795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potencial de negocio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293608" y="4572000"/>
            <a:ext cx="31181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el mismo sistema puede venderse a otras pastelerías y generar nuevos ingresos.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2E46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D6D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D6DC"/>
                </a:solidFill>
                <a:latin typeface="Calibri"/>
                <a:ea typeface="Calibri"/>
                <a:cs typeface="Calibri"/>
                <a:sym typeface="Calibri"/>
              </a:rPr>
              <a:t>INVERSIÓN Y PLAZOS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Presupuesto y cronograma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48640" y="1737360"/>
            <a:ext cx="3566160" cy="4297680"/>
          </a:xfrm>
          <a:prstGeom prst="roundRect">
            <a:avLst>
              <a:gd fmla="val 3077" name="adj"/>
            </a:avLst>
          </a:prstGeom>
          <a:solidFill>
            <a:srgbClr val="4A1F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ins_white.png" id="222" name="Google Shape;2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011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/>
          <p:nvPr/>
        </p:nvSpPr>
        <p:spPr>
          <a:xfrm>
            <a:off x="868680" y="26060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AEB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AEB6"/>
                </a:solidFill>
                <a:latin typeface="Calibri"/>
                <a:ea typeface="Calibri"/>
                <a:cs typeface="Calibri"/>
                <a:sym typeface="Calibri"/>
              </a:rPr>
              <a:t>Inversión estimada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868680" y="292608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$3.500.000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68680" y="374904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E6E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2E6EA"/>
                </a:solidFill>
                <a:latin typeface="Calibri"/>
                <a:ea typeface="Calibri"/>
                <a:cs typeface="Calibri"/>
                <a:sym typeface="Calibri"/>
              </a:rPr>
              <a:t>CLP — ecosistema completo: backend cloud, app móvil, notificaciones push, panel web e 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10"/>
          <p:cNvCxnSpPr/>
          <p:nvPr/>
        </p:nvCxnSpPr>
        <p:spPr>
          <a:xfrm>
            <a:off x="868680" y="5120640"/>
            <a:ext cx="2834640" cy="0"/>
          </a:xfrm>
          <a:prstGeom prst="straightConnector1">
            <a:avLst/>
          </a:prstGeom>
          <a:noFill/>
          <a:ln cap="flat" cmpd="sng" w="12700">
            <a:solidFill>
              <a:srgbClr val="A267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0"/>
          <p:cNvSpPr/>
          <p:nvPr/>
        </p:nvSpPr>
        <p:spPr>
          <a:xfrm>
            <a:off x="868680" y="52578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AEB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CBAEB6"/>
                </a:solidFill>
                <a:latin typeface="Calibri"/>
                <a:ea typeface="Calibri"/>
                <a:cs typeface="Calibri"/>
                <a:sym typeface="Calibri"/>
              </a:rPr>
              <a:t>Valor de mercado profesional para un sistema de este alcance.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572000" y="1737360"/>
            <a:ext cx="6675120" cy="466344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892040" y="201168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6D2E46"/>
                </a:solidFill>
                <a:latin typeface="Cambria"/>
                <a:ea typeface="Cambria"/>
                <a:cs typeface="Cambria"/>
                <a:sym typeface="Cambria"/>
              </a:rPr>
              <a:t>Cronograma — metodología ágil (Scrum)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892040" y="2651760"/>
            <a:ext cx="292608" cy="292608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892040" y="26517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0"/>
          <p:cNvCxnSpPr/>
          <p:nvPr/>
        </p:nvCxnSpPr>
        <p:spPr>
          <a:xfrm>
            <a:off x="5038344" y="297180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D8C4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0"/>
          <p:cNvSpPr/>
          <p:nvPr/>
        </p:nvSpPr>
        <p:spPr>
          <a:xfrm>
            <a:off x="5349240" y="25603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Sprints — App Móvil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321040" y="2560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2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 semanas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349240" y="2898648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Registro de pedidos, estados, abonos, notificaciones push.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892040" y="3749040"/>
            <a:ext cx="292608" cy="292608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4892040" y="37490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0"/>
          <p:cNvCxnSpPr/>
          <p:nvPr/>
        </p:nvCxnSpPr>
        <p:spPr>
          <a:xfrm>
            <a:off x="5038344" y="406908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D8C4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0"/>
          <p:cNvSpPr/>
          <p:nvPr/>
        </p:nvSpPr>
        <p:spPr>
          <a:xfrm>
            <a:off x="5349240" y="36576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Sprints — Web +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321040" y="36576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2 a 3</a:t>
            </a:r>
            <a:r>
              <a:rPr b="1" i="0" lang="en-US" sz="12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 semanas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349240" y="3995928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Portal </a:t>
            </a:r>
            <a:r>
              <a:rPr lang="en-US" sz="1100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r>
              <a:rPr b="0" i="0" lang="en-US" sz="11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 y chatbot con inteligencia artificial.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892040" y="4846320"/>
            <a:ext cx="292608" cy="292608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892040" y="48463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349240" y="4754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126"/>
                </a:solidFill>
                <a:latin typeface="Calibri"/>
                <a:ea typeface="Calibri"/>
                <a:cs typeface="Calibri"/>
                <a:sym typeface="Calibri"/>
              </a:rPr>
              <a:t>Entregas continuas (CI/CD)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8321040" y="47548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D2E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E46"/>
                </a:solidFill>
                <a:latin typeface="Calibri"/>
                <a:ea typeface="Calibri"/>
                <a:cs typeface="Calibri"/>
                <a:sym typeface="Calibri"/>
              </a:rPr>
              <a:t>Todo el proyecto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349240" y="5093208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Avances validados en producción junto al cliente en cada sprint.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0"/>
          <p:cNvCxnSpPr/>
          <p:nvPr/>
        </p:nvCxnSpPr>
        <p:spPr>
          <a:xfrm>
            <a:off x="4892040" y="5806440"/>
            <a:ext cx="6035040" cy="0"/>
          </a:xfrm>
          <a:prstGeom prst="straightConnector1">
            <a:avLst/>
          </a:prstGeom>
          <a:noFill/>
          <a:ln cap="flat" cmpd="sng" w="12700">
            <a:solidFill>
              <a:srgbClr val="E9DC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0"/>
          <p:cNvSpPr/>
          <p:nvPr/>
        </p:nvSpPr>
        <p:spPr>
          <a:xfrm>
            <a:off x="4892040" y="594360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Tiempo total estimado: 2 a 3 meses en régimen de desarrollo parcial.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B6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6B6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1F30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6D2E4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A2676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822960" y="19202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una pastelería a una plataforma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822960" y="2743200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D6D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7D6DC"/>
                </a:solidFill>
                <a:latin typeface="Calibri"/>
                <a:ea typeface="Calibri"/>
                <a:cs typeface="Calibri"/>
                <a:sym typeface="Calibri"/>
              </a:rPr>
              <a:t>La arquitectura desacoplada y multitenant-ready permite escalar este mismo sistema como una solución SaaS para otras pastelerías y negocios de repostería con dinámicas similares.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eck_white.png" id="259" name="Google Shape;2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023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/>
          <p:nvPr/>
        </p:nvSpPr>
        <p:spPr>
          <a:xfrm>
            <a:off x="1234440" y="3968496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Validar Fase 1 con el equipo de Dulce Día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eck_white.png" id="261" name="Google Shape;2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5262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/>
          <p:nvPr/>
        </p:nvSpPr>
        <p:spPr>
          <a:xfrm>
            <a:off x="1234440" y="4471416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Iterar en sprints con entregas continuas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eck_white.png"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029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/>
          <p:nvPr/>
        </p:nvSpPr>
        <p:spPr>
          <a:xfrm>
            <a:off x="1234440" y="4974336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Evaluar expansión SaaS a otras pastelerías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AEB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AEB6"/>
                </a:solidFill>
                <a:latin typeface="Calibri"/>
                <a:ea typeface="Calibri"/>
                <a:cs typeface="Calibri"/>
                <a:sym typeface="Calibri"/>
              </a:rPr>
              <a:t>Gracias — Dulce Día ·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2026-09-09T11:08:07Z</dcterms:created>
  <dc:creator>PptxGenJS</dc:creator>
</cp:coreProperties>
</file>